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?>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1" d="100"/>
          <a:sy n="91" d="100"/>
        </p:scale>
        <p:origin x="70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Results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BF6-457D-A62C-0858C2DD3E50}"/>
              </c:ext>
            </c:extLst>
          </c:dPt>
          <c:dPt>
            <c:idx val="1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BF6-457D-A62C-0858C2DD3E5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BF6-457D-A62C-0858C2DD3E5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BF6-457D-A62C-0858C2DD3E5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Normal</c:v>
                </c:pt>
                <c:pt idx="1">
                  <c:v>Low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95140</c:v>
                </c:pt>
                <c:pt idx="1">
                  <c:v>4860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EBF6-457D-A62C-0858C2DD3E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Results</c:v>
                </c:pt>
              </c:strCache>
            </c:strRef>
          </c:tx>
          <c:spPr>
            <a:solidFill>
              <a:srgbClr val="00E676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B2E-4AE9-AFA4-1B6F51D2C955}"/>
              </c:ext>
            </c:extLst>
          </c:dPt>
          <c:dPt>
            <c:idx val="1"/>
            <c:invertIfNegative val="0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2E-4AE9-AFA4-1B6F51D2C955}"/>
              </c:ext>
            </c:extLst>
          </c:dPt>
          <c:dPt>
            <c:idx val="2"/>
            <c:invertIfNegative val="0"/>
            <c:bubble3D val="0"/>
            <c:spPr>
              <a:solidFill>
                <a:srgbClr val="FFB3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2E-4AE9-AFA4-1B6F51D2C955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F1F5F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Pre-Diabetic</c:v>
                </c:pt>
                <c:pt idx="1">
                  <c:v>Normal</c:v>
                </c:pt>
                <c:pt idx="2">
                  <c:v>High Glucose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48437</c:v>
                </c:pt>
                <c:pt idx="1">
                  <c:v>49335</c:v>
                </c:pt>
                <c:pt idx="2">
                  <c:v>1591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3B2E-4AE9-AFA4-1B6F51D2C95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2D4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892A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Pass/Fail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E67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A8FC-4C36-872A-0319713CEDE8}"/>
              </c:ext>
            </c:extLst>
          </c:dPt>
          <c:dPt>
            <c:idx val="1"/>
            <c:bubble3D val="0"/>
            <c:spPr>
              <a:solidFill>
                <a:srgbClr val="FF525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8FC-4C36-872A-0319713CEDE8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A8FC-4C36-872A-0319713CEDE8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1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8FC-4C36-872A-0319713CEDE8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Male (50%)</c:v>
                </c:pt>
                <c:pt idx="1">
                  <c:v>Female (50%)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50000</c:v>
                </c:pt>
                <c:pt idx="1">
                  <c:v>50000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A8FC-4C36-872A-0319713CEDE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0A0E1A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92413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chart" Target="../charts/chart1.xml"/><Relationship Id="rId4" Type="http://schemas.openxmlformats.org/officeDocument/2006/relationships/image" Target="../media/image2.png"/></Relationships>
</file>

<file path=ppt/slides/_rels/slide3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4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6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3.xml"/><Relationship Id="rId5" Type="http://schemas.openxmlformats.org/officeDocument/2006/relationships/chart" Target="../charts/chart2.xml"/><Relationship Id="rId4" Type="http://schemas.openxmlformats.org/officeDocument/2006/relationships/image" Target="../media/image2.png"/></Relationships>
</file>

<file path=ppt/slides/_rels/slide9.xml.rels><?xml version="1.0" encoding="UTF-8"?>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548640"/>
            <a:ext cx="2560320" cy="2560320"/>
          </a:xfrm>
          <a:prstGeom prst="ellipse">
            <a:avLst/>
          </a:prstGeom>
          <a:solidFill>
            <a:srgbClr val="6C63FF">
              <a:alpha val="1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0" y="-182880"/>
            <a:ext cx="1463040" cy="146304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-457200" y="3840480"/>
            <a:ext cx="2011680" cy="2011680"/>
          </a:xfrm>
          <a:prstGeom prst="ellipse">
            <a:avLst/>
          </a:prstGeom>
          <a:solidFill>
            <a:srgbClr val="4FC3F7">
              <a:alpha val="12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468880"/>
            <a:ext cx="41148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14400" y="3200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 — Information Technology Colleague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914400" y="6583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رواد مصر الرقمية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548640" y="1051560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GRADUATION</a:t>
            </a:r>
            <a:endParaRPr lang="en-US" sz="5800" dirty="0"/>
          </a:p>
        </p:txBody>
      </p:sp>
      <p:sp>
        <p:nvSpPr>
          <p:cNvPr id="12" name="Text 8"/>
          <p:cNvSpPr/>
          <p:nvPr/>
        </p:nvSpPr>
        <p:spPr>
          <a:xfrm>
            <a:off x="548640" y="1755648"/>
            <a:ext cx="77724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800" b="1" kern="0" spc="2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5800" dirty="0"/>
          </a:p>
        </p:txBody>
      </p:sp>
      <p:sp>
        <p:nvSpPr>
          <p:cNvPr id="13" name="Text 9"/>
          <p:cNvSpPr/>
          <p:nvPr/>
        </p:nvSpPr>
        <p:spPr>
          <a:xfrm>
            <a:off x="548640" y="265176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kern="0" spc="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احترافي  •  تحليلي  •  متكامل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4864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البيانات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265176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265176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Track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754880" y="4187952"/>
            <a:ext cx="1828800" cy="365760"/>
          </a:xfrm>
          <a:prstGeom prst="roundRect">
            <a:avLst>
              <a:gd name="adj" fmla="val 12500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4754880" y="4187952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/ 2026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6903720" y="4069080"/>
            <a:ext cx="2148840" cy="621792"/>
          </a:xfrm>
          <a:prstGeom prst="roundRect">
            <a:avLst>
              <a:gd name="adj" fmla="val 11765"/>
            </a:avLst>
          </a:prstGeom>
          <a:solidFill>
            <a:srgbClr val="6C63FF">
              <a:alpha val="85000"/>
            </a:srgbClr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903720" y="4087368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ITC_GHR4_DAT2_S1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6903720" y="4398264"/>
            <a:ext cx="2148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البيانات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0" y="4773168"/>
            <a:ext cx="9144000" cy="37033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274320" y="4773168"/>
            <a:ext cx="8595360" cy="3703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شكر وتقدير لإدارة المبادرة  </a:t>
            </a: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ولشركة ITC الشركة المنفذة لتراك </a:t>
            </a:r>
            <a:r>
              <a:rPr lang="en-US" sz="1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البيانات الغربية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178676"/>
            <a:ext cx="2926080" cy="4964823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82880" y="562356"/>
            <a:ext cx="2560320" cy="5349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kern="0" spc="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800" dirty="0"/>
          </a:p>
        </p:txBody>
      </p:sp>
      <p:sp>
        <p:nvSpPr>
          <p:cNvPr id="7" name="Text 3"/>
          <p:cNvSpPr/>
          <p:nvPr/>
        </p:nvSpPr>
        <p:spPr>
          <a:xfrm>
            <a:off x="182880" y="10515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we'll cover today</a:t>
            </a:r>
            <a:endParaRPr lang="en-US" sz="1000" dirty="0"/>
          </a:p>
        </p:txBody>
      </p:sp>
      <p:sp>
        <p:nvSpPr>
          <p:cNvPr id="8" name="Shape 4"/>
          <p:cNvSpPr/>
          <p:nvPr/>
        </p:nvSpPr>
        <p:spPr>
          <a:xfrm>
            <a:off x="182880" y="1417320"/>
            <a:ext cx="2377440" cy="0"/>
          </a:xfrm>
          <a:prstGeom prst="line">
            <a:avLst/>
          </a:prstGeom>
          <a:noFill/>
          <a:ln w="12700">
            <a:solidFill>
              <a:srgbClr val="6C63F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164592" y="160020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201168" y="160020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Project Overview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164592" y="2112264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01168" y="2112264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Team &amp; Tools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" y="2624328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201168" y="2624328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Key Performance Indicators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64592" y="3136392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201168" y="3136392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Age Distribution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164592" y="3648456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01168" y="3648456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Hemoglobin &amp; Glucose Analysis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164592" y="4160520"/>
            <a:ext cx="2514600" cy="420624"/>
          </a:xfrm>
          <a:prstGeom prst="roundRect">
            <a:avLst>
              <a:gd name="adj" fmla="val 10870"/>
            </a:avLst>
          </a:prstGeom>
          <a:solidFill>
            <a:srgbClr val="0F1526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201168" y="4160520"/>
            <a:ext cx="2468880" cy="420624"/>
          </a:xfrm>
          <a:prstGeom prst="rect">
            <a:avLst/>
          </a:prstGeom>
          <a:noFill/>
          <a:ln/>
        </p:spPr>
        <p:txBody>
          <a:bodyPr wrap="square" lIns="101600" tIns="101600" rIns="101600" bIns="10160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Conclusions &amp; Recommendations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3200400" y="457200"/>
            <a:ext cx="5486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2200" dirty="0"/>
          </a:p>
        </p:txBody>
      </p:sp>
      <p:sp>
        <p:nvSpPr>
          <p:cNvPr id="22" name="Shape 18"/>
          <p:cNvSpPr/>
          <p:nvPr/>
        </p:nvSpPr>
        <p:spPr>
          <a:xfrm>
            <a:off x="3200400" y="960120"/>
            <a:ext cx="5486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3200400" y="1143000"/>
            <a:ext cx="5303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presentation delivers a comprehensive analysis of blood test data for 100,000 patients — covering KPIs, age &amp; gender distribution, glucose levels, hemoglobin trends, and actionable clinical insights drawn entirely from the dashboard.</a:t>
            </a:r>
            <a:endParaRPr lang="en-US" sz="1300" dirty="0"/>
          </a:p>
        </p:txBody>
      </p:sp>
      <p:sp>
        <p:nvSpPr>
          <p:cNvPr id="24" name="Shape 20"/>
          <p:cNvSpPr/>
          <p:nvPr/>
        </p:nvSpPr>
        <p:spPr>
          <a:xfrm>
            <a:off x="320040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320040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3000" dirty="0"/>
          </a:p>
        </p:txBody>
      </p:sp>
      <p:sp>
        <p:nvSpPr>
          <p:cNvPr id="26" name="Text 22"/>
          <p:cNvSpPr/>
          <p:nvPr/>
        </p:nvSpPr>
        <p:spPr>
          <a:xfrm>
            <a:off x="320040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27" name="Shape 23"/>
          <p:cNvSpPr/>
          <p:nvPr/>
        </p:nvSpPr>
        <p:spPr>
          <a:xfrm>
            <a:off x="466344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466344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13.75</a:t>
            </a:r>
            <a:endParaRPr lang="en-US" sz="3000" dirty="0"/>
          </a:p>
        </p:txBody>
      </p:sp>
      <p:sp>
        <p:nvSpPr>
          <p:cNvPr id="29" name="Text 25"/>
          <p:cNvSpPr/>
          <p:nvPr/>
        </p:nvSpPr>
        <p:spPr>
          <a:xfrm>
            <a:off x="466344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Hemoglobin</a:t>
            </a:r>
            <a:endParaRPr lang="en-US" sz="1000" dirty="0"/>
          </a:p>
        </p:txBody>
      </p:sp>
      <p:sp>
        <p:nvSpPr>
          <p:cNvPr id="30" name="Shape 26"/>
          <p:cNvSpPr/>
          <p:nvPr/>
        </p:nvSpPr>
        <p:spPr>
          <a:xfrm>
            <a:off x="612648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612648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99.51</a:t>
            </a:r>
            <a:endParaRPr lang="en-US" sz="3000" dirty="0"/>
          </a:p>
        </p:txBody>
      </p:sp>
      <p:sp>
        <p:nvSpPr>
          <p:cNvPr id="32" name="Text 28"/>
          <p:cNvSpPr/>
          <p:nvPr/>
        </p:nvSpPr>
        <p:spPr>
          <a:xfrm>
            <a:off x="612648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Glucose</a:t>
            </a:r>
            <a:endParaRPr lang="en-US" sz="1000" dirty="0"/>
          </a:p>
        </p:txBody>
      </p:sp>
      <p:sp>
        <p:nvSpPr>
          <p:cNvPr id="33" name="Shape 29"/>
          <p:cNvSpPr/>
          <p:nvPr/>
        </p:nvSpPr>
        <p:spPr>
          <a:xfrm>
            <a:off x="7589520" y="2377440"/>
            <a:ext cx="1280160" cy="1188720"/>
          </a:xfrm>
          <a:prstGeom prst="roundRect">
            <a:avLst>
              <a:gd name="adj" fmla="val 6154"/>
            </a:avLst>
          </a:prstGeom>
          <a:solidFill>
            <a:srgbClr val="141B2D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4" name="Text 30"/>
          <p:cNvSpPr/>
          <p:nvPr/>
        </p:nvSpPr>
        <p:spPr>
          <a:xfrm>
            <a:off x="7589520" y="2468880"/>
            <a:ext cx="12801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194.5</a:t>
            </a:r>
            <a:endParaRPr lang="en-US" sz="3000" dirty="0"/>
          </a:p>
        </p:txBody>
      </p:sp>
      <p:sp>
        <p:nvSpPr>
          <p:cNvPr id="35" name="Text 31"/>
          <p:cNvSpPr/>
          <p:nvPr/>
        </p:nvSpPr>
        <p:spPr>
          <a:xfrm>
            <a:off x="7589520" y="3063240"/>
            <a:ext cx="1280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Cholesterol</a:t>
            </a:r>
            <a:endParaRPr lang="en-US" sz="1000" dirty="0"/>
          </a:p>
        </p:txBody>
      </p:sp>
      <p:graphicFrame>
        <p:nvGraphicFramePr>
          <p:cNvPr id="36" name="Chart 0"/>
          <p:cNvGraphicFramePr/>
          <p:nvPr/>
        </p:nvGraphicFramePr>
        <p:xfrm>
          <a:off x="3200400" y="3657600"/>
          <a:ext cx="5669280" cy="1280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567558" y="0"/>
            <a:ext cx="8576441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932688" y="137160"/>
            <a:ext cx="491947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المشروع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932688" y="621792"/>
            <a:ext cx="4919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الفريق · أدوات التحليل · المدرب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11430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أعضاء الفريق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27432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384048" y="1783080"/>
            <a:ext cx="457200" cy="457200"/>
          </a:xfrm>
          <a:prstGeom prst="ellipse">
            <a:avLst/>
          </a:prstGeom>
          <a:solidFill>
            <a:srgbClr val="6C63FF">
              <a:alpha val="8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8404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32688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الرحمن عصام شتا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932688" y="2011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Leader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3200400" y="155448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3310128" y="1783080"/>
            <a:ext cx="457200" cy="457200"/>
          </a:xfrm>
          <a:prstGeom prst="ellipse">
            <a:avLst/>
          </a:prstGeom>
          <a:solidFill>
            <a:srgbClr val="4FC3F7">
              <a:alpha val="8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310128" y="17830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3858768" y="166420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مريم ناصر العياشي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858768" y="201168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274320" y="2651760"/>
            <a:ext cx="2743200" cy="9144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384048" y="2880360"/>
            <a:ext cx="457200" cy="457200"/>
          </a:xfrm>
          <a:prstGeom prst="ellipse">
            <a:avLst/>
          </a:prstGeom>
          <a:solidFill>
            <a:srgbClr val="00E676">
              <a:alpha val="8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38404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</a:t>
            </a:r>
            <a:endParaRPr lang="en-US" sz="1400" dirty="0"/>
          </a:p>
        </p:txBody>
      </p:sp>
      <p:sp>
        <p:nvSpPr>
          <p:cNvPr id="22" name="Text 18"/>
          <p:cNvSpPr/>
          <p:nvPr/>
        </p:nvSpPr>
        <p:spPr>
          <a:xfrm>
            <a:off x="932688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يوسف موسى رزق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32688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Analyst</a:t>
            </a:r>
            <a:endParaRPr lang="en-US" sz="1000" dirty="0"/>
          </a:p>
        </p:txBody>
      </p:sp>
      <p:sp>
        <p:nvSpPr>
          <p:cNvPr id="24" name="Shape 20"/>
          <p:cNvSpPr/>
          <p:nvPr/>
        </p:nvSpPr>
        <p:spPr>
          <a:xfrm>
            <a:off x="3200400" y="2651760"/>
            <a:ext cx="2743200" cy="91440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</p:sp>
      <p:sp>
        <p:nvSpPr>
          <p:cNvPr id="25" name="Shape 21"/>
          <p:cNvSpPr/>
          <p:nvPr/>
        </p:nvSpPr>
        <p:spPr>
          <a:xfrm>
            <a:off x="3310128" y="2880360"/>
            <a:ext cx="457200" cy="457200"/>
          </a:xfrm>
          <a:prstGeom prst="ellipse">
            <a:avLst/>
          </a:prstGeom>
          <a:noFill/>
          <a:ln w="12700">
            <a:noFill/>
          </a:ln>
        </p:spPr>
      </p:sp>
      <p:sp>
        <p:nvSpPr>
          <p:cNvPr id="26" name="Text 22"/>
          <p:cNvSpPr/>
          <p:nvPr/>
        </p:nvSpPr>
        <p:spPr>
          <a:xfrm>
            <a:off x="3310128" y="288036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</p:txBody>
      </p:sp>
      <p:sp>
        <p:nvSpPr>
          <p:cNvPr id="27" name="Text 23"/>
          <p:cNvSpPr/>
          <p:nvPr/>
        </p:nvSpPr>
        <p:spPr>
          <a:xfrm>
            <a:off x="3858768" y="276148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3858768" y="310896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274320" y="3749040"/>
            <a:ext cx="2743200" cy="914400"/>
          </a:xfrm>
          <a:prstGeom prst="roundRect">
            <a:avLst>
              <a:gd name="adj" fmla="val 8000"/>
            </a:avLst>
          </a:prstGeom>
          <a:noFill/>
          <a:ln w="12700">
            <a:noFill/>
          </a:ln>
        </p:spPr>
      </p:sp>
      <p:sp>
        <p:nvSpPr>
          <p:cNvPr id="30" name="Shape 26"/>
          <p:cNvSpPr/>
          <p:nvPr/>
        </p:nvSpPr>
        <p:spPr>
          <a:xfrm>
            <a:off x="384048" y="3977640"/>
            <a:ext cx="457200" cy="457200"/>
          </a:xfrm>
          <a:prstGeom prst="ellipse">
            <a:avLst/>
          </a:prstGeom>
          <a:noFill/>
          <a:ln w="12700">
            <a:noFill/>
          </a:ln>
        </p:spPr>
      </p:sp>
      <p:sp>
        <p:nvSpPr>
          <p:cNvPr id="31" name="Text 27"/>
          <p:cNvSpPr/>
          <p:nvPr/>
        </p:nvSpPr>
        <p:spPr>
          <a:xfrm>
            <a:off x="384048" y="3977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400" dirty="0"/>
          </a:p>
        </p:txBody>
      </p:sp>
      <p:sp>
        <p:nvSpPr>
          <p:cNvPr id="32" name="Text 28"/>
          <p:cNvSpPr/>
          <p:nvPr/>
        </p:nvSpPr>
        <p:spPr>
          <a:xfrm>
            <a:off x="932688" y="3858768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300" dirty="0"/>
          </a:p>
        </p:txBody>
      </p:sp>
      <p:sp>
        <p:nvSpPr>
          <p:cNvPr id="33" name="Text 29"/>
          <p:cNvSpPr/>
          <p:nvPr/>
        </p:nvSpPr>
        <p:spPr>
          <a:xfrm>
            <a:off x="932688" y="4206240"/>
            <a:ext cx="2011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 </a:t>
            </a:r>
            <a:endParaRPr lang="en-US" sz="1000" dirty="0"/>
          </a:p>
        </p:txBody>
      </p:sp>
      <p:sp>
        <p:nvSpPr>
          <p:cNvPr id="34" name="Shape 30"/>
          <p:cNvSpPr/>
          <p:nvPr/>
        </p:nvSpPr>
        <p:spPr>
          <a:xfrm>
            <a:off x="6126480" y="114300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5" name="Text 31"/>
          <p:cNvSpPr/>
          <p:nvPr/>
        </p:nvSpPr>
        <p:spPr>
          <a:xfrm>
            <a:off x="6263640" y="12161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Name</a:t>
            </a:r>
            <a:endParaRPr lang="en-US" sz="1000" dirty="0"/>
          </a:p>
        </p:txBody>
      </p:sp>
      <p:sp>
        <p:nvSpPr>
          <p:cNvPr id="36" name="Text 32"/>
          <p:cNvSpPr/>
          <p:nvPr/>
        </p:nvSpPr>
        <p:spPr>
          <a:xfrm>
            <a:off x="6263640" y="149047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تراك تحليل البيانات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6126480" y="219456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6263640" y="226771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263640" y="254203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· Power BI · Excel · SQL</a:t>
            </a:r>
            <a:endParaRPr lang="en-US" sz="1200" dirty="0"/>
          </a:p>
        </p:txBody>
      </p:sp>
      <p:sp>
        <p:nvSpPr>
          <p:cNvPr id="40" name="Shape 36"/>
          <p:cNvSpPr/>
          <p:nvPr/>
        </p:nvSpPr>
        <p:spPr>
          <a:xfrm>
            <a:off x="6126480" y="3246120"/>
            <a:ext cx="283464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6263640" y="331927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263640" y="3593592"/>
            <a:ext cx="26517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إيمان غانم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56692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303520" y="818388"/>
            <a:ext cx="3840480" cy="4325112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5943600" y="640080"/>
            <a:ext cx="2926080" cy="2743200"/>
          </a:xfrm>
          <a:prstGeom prst="ellipse">
            <a:avLst/>
          </a:prstGeom>
          <a:solidFill>
            <a:srgbClr val="FF5252">
              <a:alpha val="1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859536" y="402336"/>
            <a:ext cx="1645920" cy="347472"/>
          </a:xfrm>
          <a:prstGeom prst="roundRect">
            <a:avLst>
              <a:gd name="adj" fmla="val 13158"/>
            </a:avLst>
          </a:prstGeom>
          <a:solidFill>
            <a:srgbClr val="FF5252">
              <a:alpha val="20000"/>
            </a:srgbClr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36576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200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البيانات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365760" y="82296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</a:t>
            </a:r>
            <a:endParaRPr lang="en-US" sz="3200" dirty="0"/>
          </a:p>
        </p:txBody>
      </p:sp>
      <p:sp>
        <p:nvSpPr>
          <p:cNvPr id="9" name="Text 5"/>
          <p:cNvSpPr/>
          <p:nvPr/>
        </p:nvSpPr>
        <p:spPr>
          <a:xfrm>
            <a:off x="365760" y="13716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Indicators — KPIs</a:t>
            </a:r>
            <a:endParaRPr lang="en-US" sz="3200" dirty="0"/>
          </a:p>
        </p:txBody>
      </p:sp>
      <p:sp>
        <p:nvSpPr>
          <p:cNvPr id="10" name="Shape 6"/>
          <p:cNvSpPr/>
          <p:nvPr/>
        </p:nvSpPr>
        <p:spPr>
          <a:xfrm>
            <a:off x="365760" y="2011680"/>
            <a:ext cx="320040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365760" y="2148840"/>
            <a:ext cx="46634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Summary — Blood Test Analysis Dashboard (100,000 Patients)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covers Hemoglobin · Glucose · Cholesterol · WBC · Platelet Status across all age groups and genders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577840" y="6400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669280" y="7315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6263640" y="7772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6263640" y="11704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 — Equal gender split (50% / 50%)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5577840" y="20116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69280" y="21031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8" name="Text 14"/>
          <p:cNvSpPr/>
          <p:nvPr/>
        </p:nvSpPr>
        <p:spPr>
          <a:xfrm>
            <a:off x="6263640" y="21488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Hemoglobin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6263640" y="25420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13.75 g/dL — Normal range (12–17.5). Males: 14.51 | Females: 13.00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5577840" y="3383280"/>
            <a:ext cx="3200400" cy="1097280"/>
          </a:xfrm>
          <a:prstGeom prst="roundRect">
            <a:avLst>
              <a:gd name="adj" fmla="val 6667"/>
            </a:avLst>
          </a:prstGeom>
          <a:solidFill>
            <a:srgbClr val="0F1526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669280" y="3474720"/>
            <a:ext cx="548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263640" y="352044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Glucose</a:t>
            </a:r>
            <a:endParaRPr lang="en-US" sz="1500" dirty="0"/>
          </a:p>
        </p:txBody>
      </p:sp>
      <p:sp>
        <p:nvSpPr>
          <p:cNvPr id="23" name="Text 19"/>
          <p:cNvSpPr/>
          <p:nvPr/>
        </p:nvSpPr>
        <p:spPr>
          <a:xfrm>
            <a:off x="6263640" y="391363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99.51 mg/dL — Borderline pre-diabetic threshold (≥100 mg/dL is pre-diabetic)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0" y="73152"/>
            <a:ext cx="9144000" cy="1024128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20040" y="822172"/>
            <a:ext cx="1645920" cy="329184"/>
          </a:xfrm>
          <a:prstGeom prst="roundRect">
            <a:avLst>
              <a:gd name="adj" fmla="val 13889"/>
            </a:avLst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365760" y="201168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2286000" y="18288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Platelet · Cholesterol · WBC Analysis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2286000" y="71323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Insights extracted from the Blood Test Dashboard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6576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6576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6C63FF">
              <a:alpha val="25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4864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Distribution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54864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Perfect gender parity: 50% Male / 50% Female (50,000 each). Enables unbiased gender-based comparisons across all blood markers.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4754880" y="128016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4754880" y="128016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00E676">
              <a:alpha val="25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937760" y="132588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Platelet Status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4937760" y="178308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95.14% Normal (95,140 patients) | 4.86% Low (4,860 patients). Low platelets may indicate thrombocytopenia risk — requires clinical follow-up.</a:t>
            </a:r>
            <a:endParaRPr lang="en-US" sz="1200" dirty="0"/>
          </a:p>
        </p:txBody>
      </p:sp>
      <p:sp>
        <p:nvSpPr>
          <p:cNvPr id="18" name="Shape 14"/>
          <p:cNvSpPr/>
          <p:nvPr/>
        </p:nvSpPr>
        <p:spPr>
          <a:xfrm>
            <a:off x="36576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36576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4FC3F7">
              <a:alpha val="25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4864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Cholesterol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4864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194.5 mg/dL — Within desirable range (&lt;200 mg/dL). Borderline: 200–239. High risk: ≥240. Population overall: cardiovascular risk is low.</a:t>
            </a:r>
            <a:endParaRPr lang="en-US" sz="1200" dirty="0"/>
          </a:p>
        </p:txBody>
      </p:sp>
      <p:sp>
        <p:nvSpPr>
          <p:cNvPr id="22" name="Shape 18"/>
          <p:cNvSpPr/>
          <p:nvPr/>
        </p:nvSpPr>
        <p:spPr>
          <a:xfrm>
            <a:off x="4754880" y="3017520"/>
            <a:ext cx="4114800" cy="1554480"/>
          </a:xfrm>
          <a:prstGeom prst="roundRect">
            <a:avLst>
              <a:gd name="adj" fmla="val 5882"/>
            </a:avLst>
          </a:prstGeom>
          <a:solidFill>
            <a:srgbClr val="1A234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4754880" y="3017520"/>
            <a:ext cx="4114800" cy="365760"/>
          </a:xfrm>
          <a:prstGeom prst="roundRect">
            <a:avLst>
              <a:gd name="adj" fmla="val 25000"/>
            </a:avLst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4937760" y="30632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WBC Count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4937760" y="35204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 × 10³/µL — Normal range (4.5–11.0). Indicates healthy immune system function with no population-wide signs of infection or immunosuppression.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023256" y="274320"/>
            <a:ext cx="3914503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3600" dirty="0"/>
          </a:p>
        </p:txBody>
      </p:sp>
      <p:sp>
        <p:nvSpPr>
          <p:cNvPr id="5" name="Text 1"/>
          <p:cNvSpPr/>
          <p:nvPr/>
        </p:nvSpPr>
        <p:spPr>
          <a:xfrm>
            <a:off x="365760" y="914400"/>
            <a:ext cx="45720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 Analysis</a:t>
            </a:r>
            <a:endParaRPr lang="en-US" sz="3600" dirty="0"/>
          </a:p>
        </p:txBody>
      </p:sp>
      <p:sp>
        <p:nvSpPr>
          <p:cNvPr id="6" name="Shape 2"/>
          <p:cNvSpPr/>
          <p:nvPr/>
        </p:nvSpPr>
        <p:spPr>
          <a:xfrm>
            <a:off x="36576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4FC3F7"/>
            </a:solidFill>
            <a:prstDash val="solid"/>
          </a:ln>
        </p:spPr>
      </p:sp>
      <p:sp>
        <p:nvSpPr>
          <p:cNvPr id="7" name="Shape 3"/>
          <p:cNvSpPr/>
          <p:nvPr/>
        </p:nvSpPr>
        <p:spPr>
          <a:xfrm>
            <a:off x="1143000" y="2057400"/>
            <a:ext cx="914400" cy="914400"/>
          </a:xfrm>
          <a:prstGeom prst="ellipse">
            <a:avLst/>
          </a:prstGeom>
          <a:solidFill>
            <a:srgbClr val="4FC3F7">
              <a:alpha val="2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Group: 10–19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36576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~3,000 patients — Significantly underrepresented vs all other groups (~16K each). May reflect referral bias or lower blood test rates in adolescents.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283464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320040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3977640" y="2057400"/>
            <a:ext cx="914400" cy="914400"/>
          </a:xfrm>
          <a:prstGeom prst="ellipse">
            <a:avLst/>
          </a:prstGeom>
          <a:solidFill>
            <a:srgbClr val="6C63FF">
              <a:alpha val="20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320040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Groups: 20–70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320040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~16,000 patients per decade (20s, 30s, 40s, 50s, 60s, 70s) — Near-perfect uniform distribution. Allows reliable cross-age comparisons without sampling bias.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669280" y="3200400"/>
            <a:ext cx="365760" cy="0"/>
          </a:xfrm>
          <a:prstGeom prst="line">
            <a:avLst/>
          </a:prstGeom>
          <a:noFill/>
          <a:ln w="25400">
            <a:solidFill>
              <a:srgbClr val="1E2D4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035040" y="1920240"/>
            <a:ext cx="2468880" cy="2560320"/>
          </a:xfrm>
          <a:prstGeom prst="roundRect">
            <a:avLst>
              <a:gd name="adj" fmla="val 3704"/>
            </a:avLst>
          </a:prstGeom>
          <a:solidFill>
            <a:srgbClr val="141B2D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812280" y="2057400"/>
            <a:ext cx="914400" cy="914400"/>
          </a:xfrm>
          <a:prstGeom prst="ellipse">
            <a:avLst/>
          </a:prstGeom>
          <a:solidFill>
            <a:srgbClr val="00E676">
              <a:alpha val="20000"/>
            </a:srgbClr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035040" y="315468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Observation</a:t>
            </a:r>
            <a:endParaRPr lang="en-US" sz="1400" dirty="0"/>
          </a:p>
        </p:txBody>
      </p:sp>
      <p:sp>
        <p:nvSpPr>
          <p:cNvPr id="19" name="Text 15"/>
          <p:cNvSpPr/>
          <p:nvPr/>
        </p:nvSpPr>
        <p:spPr>
          <a:xfrm>
            <a:off x="6035040" y="356616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10–19 gap is the only anomaly. Recommend targeted outreach to adolescent patients to improve dataset representativeness for this demographic.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349240" y="169743"/>
            <a:ext cx="2926080" cy="1508760"/>
          </a:xfrm>
          <a:prstGeom prst="roundRect">
            <a:avLst>
              <a:gd name="adj" fmla="val 6061"/>
            </a:avLst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1" name="Text 17"/>
          <p:cNvSpPr/>
          <p:nvPr/>
        </p:nvSpPr>
        <p:spPr>
          <a:xfrm>
            <a:off x="6080760" y="36576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1.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Spread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6080760" y="77724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2.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Analysis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6080760" y="1188720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 xml:space="preserve">3. </a:t>
            </a:r>
            <a:r>
              <a:rPr lang="en-US" sz="1300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Gap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5" name="Text 1"/>
          <p:cNvSpPr/>
          <p:nvPr/>
        </p:nvSpPr>
        <p:spPr>
          <a:xfrm>
            <a:off x="945930" y="274320"/>
            <a:ext cx="7649429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Hemoglobin &amp; Glucose</a:t>
            </a:r>
            <a:endParaRPr lang="en-US" sz="3400" dirty="0"/>
          </a:p>
        </p:txBody>
      </p:sp>
      <p:sp>
        <p:nvSpPr>
          <p:cNvPr id="6" name="Text 2"/>
          <p:cNvSpPr/>
          <p:nvPr/>
        </p:nvSpPr>
        <p:spPr>
          <a:xfrm>
            <a:off x="365760" y="8686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Deep-Dive Analysis</a:t>
            </a:r>
            <a:endParaRPr lang="en-US" sz="3400" dirty="0"/>
          </a:p>
        </p:txBody>
      </p:sp>
      <p:sp>
        <p:nvSpPr>
          <p:cNvPr id="7" name="Shape 3"/>
          <p:cNvSpPr/>
          <p:nvPr/>
        </p:nvSpPr>
        <p:spPr>
          <a:xfrm>
            <a:off x="365760" y="1691640"/>
            <a:ext cx="4114800" cy="2560320"/>
          </a:xfrm>
          <a:prstGeom prst="roundRect">
            <a:avLst>
              <a:gd name="adj" fmla="val 3571"/>
            </a:avLst>
          </a:prstGeom>
          <a:solidFill>
            <a:srgbClr val="1A234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365760" y="1691640"/>
            <a:ext cx="41148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Pre-Diabetic: 48,437 (48.4%)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4663440" y="1691640"/>
            <a:ext cx="4114800" cy="1143000"/>
          </a:xfrm>
          <a:prstGeom prst="roundRect">
            <a:avLst>
              <a:gd name="adj" fmla="val 8000"/>
            </a:avLst>
          </a:prstGeom>
          <a:solidFill>
            <a:srgbClr val="1A234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663440" y="1691640"/>
            <a:ext cx="4114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Glucose: 49,335 (49.3%)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4663440" y="3017520"/>
            <a:ext cx="4114800" cy="1234440"/>
          </a:xfrm>
          <a:prstGeom prst="roundRect">
            <a:avLst>
              <a:gd name="adj" fmla="val 7407"/>
            </a:avLst>
          </a:prstGeom>
          <a:solidFill>
            <a:srgbClr val="1A2340"/>
          </a:solidFill>
          <a:ln w="12700">
            <a:solidFill>
              <a:srgbClr val="1E2D4A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4663440" y="3017520"/>
            <a:ext cx="411480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High: 1,591 (1.6%) | Low: 637 (0.6%)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insight: 48.4% of patients are pre-diabetic — nearly half the sample. Combined with avg glucose of 99.51 mg/dL (just below the 100 threshold), this signals a population at high risk of type-2 diabetes. Hemoglobin by gender: Males avg 14.51 g/dL vs Females 13.00 g/dL — consistent with physiological norms, confirming data quality.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0"/>
          <p:cNvSpPr/>
          <p:nvPr/>
        </p:nvSpPr>
        <p:spPr>
          <a:xfrm>
            <a:off x="1360714" y="0"/>
            <a:ext cx="7783286" cy="1005840"/>
          </a:xfrm>
          <a:prstGeom prst="rect">
            <a:avLst/>
          </a:prstGeom>
          <a:solidFill>
            <a:srgbClr val="141B2D"/>
          </a:solidFill>
          <a:ln w="12700">
            <a:solidFill>
              <a:srgbClr val="1E2D4A"/>
            </a:solidFill>
            <a:prstDash val="solid"/>
          </a:ln>
        </p:spPr>
      </p:sp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1556656" y="137160"/>
            <a:ext cx="7038703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Test Analysis — Dashboard Summary</a:t>
            </a:r>
            <a:endParaRPr lang="en-US" sz="2600" dirty="0"/>
          </a:p>
        </p:txBody>
      </p:sp>
      <p:sp>
        <p:nvSpPr>
          <p:cNvPr id="7" name="Text 3"/>
          <p:cNvSpPr/>
          <p:nvPr/>
        </p:nvSpPr>
        <p:spPr>
          <a:xfrm>
            <a:off x="1360714" y="621792"/>
            <a:ext cx="357704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ITC_GHR4_DAT2_S1 · Team Final Metrics</a:t>
            </a:r>
            <a:endParaRPr lang="en-US" sz="1100" dirty="0"/>
          </a:p>
        </p:txBody>
      </p:sp>
      <p:sp>
        <p:nvSpPr>
          <p:cNvPr id="8" name="Shape 4"/>
          <p:cNvSpPr/>
          <p:nvPr/>
        </p:nvSpPr>
        <p:spPr>
          <a:xfrm>
            <a:off x="27432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6C63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27432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100,000</a:t>
            </a:r>
            <a:endParaRPr lang="en-US" sz="4000" dirty="0"/>
          </a:p>
        </p:txBody>
      </p:sp>
      <p:sp>
        <p:nvSpPr>
          <p:cNvPr id="10" name="Text 6"/>
          <p:cNvSpPr/>
          <p:nvPr/>
        </p:nvSpPr>
        <p:spPr>
          <a:xfrm>
            <a:off x="27432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Patients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242316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242316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13.75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242316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Hemoglobin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57200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457200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194.5</a:t>
            </a:r>
            <a:endParaRPr lang="en-US" sz="4000" dirty="0"/>
          </a:p>
        </p:txBody>
      </p:sp>
      <p:sp>
        <p:nvSpPr>
          <p:cNvPr id="16" name="Text 12"/>
          <p:cNvSpPr/>
          <p:nvPr/>
        </p:nvSpPr>
        <p:spPr>
          <a:xfrm>
            <a:off x="457200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Cholesterol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720840" y="1143000"/>
            <a:ext cx="1965960" cy="1371600"/>
          </a:xfrm>
          <a:prstGeom prst="roundRect">
            <a:avLst>
              <a:gd name="adj" fmla="val 6667"/>
            </a:avLst>
          </a:prstGeom>
          <a:solidFill>
            <a:srgbClr val="1A2340"/>
          </a:solidFill>
          <a:ln w="19050">
            <a:solidFill>
              <a:srgbClr val="FFB30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720840" y="1234440"/>
            <a:ext cx="1965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99.51</a:t>
            </a:r>
            <a:endParaRPr lang="en-US" sz="4000" dirty="0"/>
          </a:p>
        </p:txBody>
      </p:sp>
      <p:sp>
        <p:nvSpPr>
          <p:cNvPr id="19" name="Text 15"/>
          <p:cNvSpPr/>
          <p:nvPr/>
        </p:nvSpPr>
        <p:spPr>
          <a:xfrm>
            <a:off x="6720840" y="1965960"/>
            <a:ext cx="19659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Glucose</a:t>
            </a:r>
            <a:endParaRPr lang="en-US" sz="1000" dirty="0"/>
          </a:p>
        </p:txBody>
      </p:sp>
      <p:graphicFrame>
        <p:nvGraphicFramePr>
          <p:cNvPr id="20" name="Chart 0"/>
          <p:cNvGraphicFramePr/>
          <p:nvPr/>
        </p:nvGraphicFramePr>
        <p:xfrm>
          <a:off x="274320" y="2651760"/>
          <a:ext cx="530352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21" name="Chart 1"/>
          <p:cNvGraphicFramePr/>
          <p:nvPr/>
        </p:nvGraphicFramePr>
        <p:xfrm>
          <a:off x="5669280" y="2651760"/>
          <a:ext cx="3291840" cy="2194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" y="73152"/>
            <a:ext cx="658368" cy="658368"/>
          </a:xfrm>
          <a:prstGeom prst="ellipse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75904" y="73152"/>
            <a:ext cx="658368" cy="658368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6858000" y="2286000"/>
            <a:ext cx="3657600" cy="3657600"/>
          </a:xfrm>
          <a:prstGeom prst="ellipse">
            <a:avLst/>
          </a:prstGeom>
          <a:solidFill>
            <a:srgbClr val="6C63FF">
              <a:alpha val="8000"/>
            </a:srgbClr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5" name="Shape 1"/>
          <p:cNvSpPr/>
          <p:nvPr/>
        </p:nvSpPr>
        <p:spPr>
          <a:xfrm>
            <a:off x="-1371600" y="-914400"/>
            <a:ext cx="3200400" cy="3200400"/>
          </a:xfrm>
          <a:prstGeom prst="ellipse">
            <a:avLst/>
          </a:prstGeom>
          <a:solidFill>
            <a:srgbClr val="4FC3F7">
              <a:alpha val="10000"/>
            </a:srgbClr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6" name="Shape 2"/>
          <p:cNvSpPr/>
          <p:nvPr/>
        </p:nvSpPr>
        <p:spPr>
          <a:xfrm>
            <a:off x="365760" y="1371600"/>
            <a:ext cx="3657600" cy="0"/>
          </a:xfrm>
          <a:prstGeom prst="line">
            <a:avLst/>
          </a:prstGeom>
          <a:noFill/>
          <a:ln w="19050">
            <a:solidFill>
              <a:srgbClr val="6C63F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768096" y="320040"/>
            <a:ext cx="508406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الخلاصة</a:t>
            </a:r>
            <a:endParaRPr lang="en-US" sz="3600" dirty="0"/>
          </a:p>
        </p:txBody>
      </p:sp>
      <p:sp>
        <p:nvSpPr>
          <p:cNvPr id="8" name="Shape 4"/>
          <p:cNvSpPr/>
          <p:nvPr/>
        </p:nvSpPr>
        <p:spPr>
          <a:xfrm>
            <a:off x="365760" y="150876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594360" y="158191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594360" y="1920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48.4% pre-diabetic — near the clinical threshold. 95.14% normal platelets. Perfect gender parity enables unbiased analysis. Cholesterol (194.5) and WBC (7.0) within healthy ranges across all 100,000 patients.</a:t>
            </a:r>
            <a:endParaRPr lang="en-US" sz="1100" dirty="0"/>
          </a:p>
        </p:txBody>
      </p:sp>
      <p:sp>
        <p:nvSpPr>
          <p:cNvPr id="11" name="Shape 7"/>
          <p:cNvSpPr/>
          <p:nvPr/>
        </p:nvSpPr>
        <p:spPr>
          <a:xfrm>
            <a:off x="365760" y="256032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4FC3F7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594360" y="263347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Recommendations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94360" y="297180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pre-diabetes prevention program targeting 48,437 at-risk patients. Address the 10–19 age group data gap with targeted outreach. Monitor the 4.86% low-platelet cohort with clinical follow-up protocols.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365760" y="3611880"/>
            <a:ext cx="5303520" cy="868680"/>
          </a:xfrm>
          <a:prstGeom prst="roundRect">
            <a:avLst>
              <a:gd name="adj" fmla="val 8421"/>
            </a:avLst>
          </a:prstGeom>
          <a:solidFill>
            <a:srgbClr val="141B2D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94360" y="3685032"/>
            <a:ext cx="1828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94360" y="40233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analysis between all blood markers. Predictive ML models for early disease detection. Longitudinal tracking of pre-diabetic patients over time.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5760720" y="1371600"/>
            <a:ext cx="3108960" cy="3474720"/>
          </a:xfrm>
          <a:prstGeom prst="roundRect">
            <a:avLst>
              <a:gd name="adj" fmla="val 3529"/>
            </a:avLst>
          </a:prstGeom>
          <a:solidFill>
            <a:srgbClr val="1A2340"/>
          </a:solidFill>
          <a:ln w="12700">
            <a:solidFill>
              <a:srgbClr val="6C63FF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760720" y="173736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1F5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</a:t>
            </a:r>
            <a:endParaRPr lang="en-US" sz="3000" dirty="0"/>
          </a:p>
        </p:txBody>
      </p:sp>
      <p:sp>
        <p:nvSpPr>
          <p:cNvPr id="19" name="Text 15"/>
          <p:cNvSpPr/>
          <p:nvPr/>
        </p:nvSpPr>
        <p:spPr>
          <a:xfrm>
            <a:off x="5760720" y="2286000"/>
            <a:ext cx="3108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6C63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You!</a:t>
            </a:r>
            <a:endParaRPr lang="en-US" sz="3000" dirty="0"/>
          </a:p>
        </p:txBody>
      </p:sp>
      <p:sp>
        <p:nvSpPr>
          <p:cNvPr id="20" name="Shape 16"/>
          <p:cNvSpPr/>
          <p:nvPr/>
        </p:nvSpPr>
        <p:spPr>
          <a:xfrm>
            <a:off x="6217920" y="2971800"/>
            <a:ext cx="2194560" cy="0"/>
          </a:xfrm>
          <a:prstGeom prst="line">
            <a:avLst/>
          </a:prstGeom>
          <a:noFill/>
          <a:ln w="6350">
            <a:solidFill>
              <a:srgbClr val="1E2D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5760720" y="3154680"/>
            <a:ext cx="3108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عبد الرحمن عصام شتا — Team Leader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8892A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 Track · ITC · 2025/2026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344</Words>
  <Application>Microsoft Office PowerPoint</Application>
  <PresentationFormat>On-screen Show (16:9)</PresentationFormat>
  <Paragraphs>130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ITC Graduation Project</dc:title>
  <dc:subject>PptxGenJS Presentation</dc:subject>
  <dc:creator>PptxGenJS</dc:creator>
  <cp:lastModifiedBy>deda sas</cp:lastModifiedBy>
  <cp:revision>2</cp:revision>
  <dcterms:created xsi:type="dcterms:W3CDTF">2026-06-22T16:21:38Z</dcterms:created>
  <dcterms:modified xsi:type="dcterms:W3CDTF">2026-06-22T16:26:45Z</dcterms:modified>
</cp:coreProperties>
</file>